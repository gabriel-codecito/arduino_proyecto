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7" r:id="rId5"/>
  </p:sldMasterIdLst>
  <p:notesMasterIdLst>
    <p:notesMasterId r:id="rId14"/>
  </p:notesMasterIdLst>
  <p:handoutMasterIdLst>
    <p:handoutMasterId r:id="rId15"/>
  </p:handoutMasterIdLst>
  <p:sldIdLst>
    <p:sldId id="331" r:id="rId6"/>
    <p:sldId id="344" r:id="rId7"/>
    <p:sldId id="348" r:id="rId8"/>
    <p:sldId id="349" r:id="rId9"/>
    <p:sldId id="350" r:id="rId10"/>
    <p:sldId id="345" r:id="rId11"/>
    <p:sldId id="347" r:id="rId12"/>
    <p:sldId id="268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herine Díaz Olivos" initials="CDO" lastIdx="8" clrIdx="0">
    <p:extLst>
      <p:ext uri="{19B8F6BF-5375-455C-9EA6-DF929625EA0E}">
        <p15:presenceInfo xmlns:p15="http://schemas.microsoft.com/office/powerpoint/2012/main" userId="S-1-5-21-1538672992-175319928-926709054-182580" providerId="AD"/>
      </p:ext>
    </p:extLst>
  </p:cmAuthor>
  <p:cmAuthor id="2" name="Karoll Labrín Bórquez" initials="KLB" lastIdx="1" clrIdx="1">
    <p:extLst>
      <p:ext uri="{19B8F6BF-5375-455C-9EA6-DF929625EA0E}">
        <p15:presenceInfo xmlns:p15="http://schemas.microsoft.com/office/powerpoint/2012/main" userId="S-1-5-21-1538672992-175319928-926709054-1942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00"/>
    <a:srgbClr val="777777"/>
    <a:srgbClr val="E80E0E"/>
    <a:srgbClr val="CC0000"/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2427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8FCBC-C477-4D6D-828A-7941D2A76A08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1E7FB-0083-49AB-B567-A46CBFCFA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69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Open Sans"/>
      </a:defRPr>
    </a:lvl1pPr>
    <a:lvl2pPr indent="228600" defTabSz="1828800" latinLnBrk="0">
      <a:defRPr sz="2400">
        <a:latin typeface="+mn-lt"/>
        <a:ea typeface="+mn-ea"/>
        <a:cs typeface="+mn-cs"/>
        <a:sym typeface="Open Sans"/>
      </a:defRPr>
    </a:lvl2pPr>
    <a:lvl3pPr indent="457200" defTabSz="1828800" latinLnBrk="0">
      <a:defRPr sz="2400">
        <a:latin typeface="+mn-lt"/>
        <a:ea typeface="+mn-ea"/>
        <a:cs typeface="+mn-cs"/>
        <a:sym typeface="Open Sans"/>
      </a:defRPr>
    </a:lvl3pPr>
    <a:lvl4pPr indent="685800" defTabSz="1828800" latinLnBrk="0">
      <a:defRPr sz="2400">
        <a:latin typeface="+mn-lt"/>
        <a:ea typeface="+mn-ea"/>
        <a:cs typeface="+mn-cs"/>
        <a:sym typeface="Open Sans"/>
      </a:defRPr>
    </a:lvl4pPr>
    <a:lvl5pPr indent="914400" defTabSz="1828800" latinLnBrk="0">
      <a:defRPr sz="2400">
        <a:latin typeface="+mn-lt"/>
        <a:ea typeface="+mn-ea"/>
        <a:cs typeface="+mn-cs"/>
        <a:sym typeface="Open Sans"/>
      </a:defRPr>
    </a:lvl5pPr>
    <a:lvl6pPr indent="1143000" defTabSz="1828800" latinLnBrk="0">
      <a:defRPr sz="2400">
        <a:latin typeface="+mn-lt"/>
        <a:ea typeface="+mn-ea"/>
        <a:cs typeface="+mn-cs"/>
        <a:sym typeface="Open Sans"/>
      </a:defRPr>
    </a:lvl6pPr>
    <a:lvl7pPr indent="1371600" defTabSz="1828800" latinLnBrk="0">
      <a:defRPr sz="2400">
        <a:latin typeface="+mn-lt"/>
        <a:ea typeface="+mn-ea"/>
        <a:cs typeface="+mn-cs"/>
        <a:sym typeface="Open Sans"/>
      </a:defRPr>
    </a:lvl7pPr>
    <a:lvl8pPr indent="1600200" defTabSz="1828800" latinLnBrk="0">
      <a:defRPr sz="2400">
        <a:latin typeface="+mn-lt"/>
        <a:ea typeface="+mn-ea"/>
        <a:cs typeface="+mn-cs"/>
        <a:sym typeface="Open Sans"/>
      </a:defRPr>
    </a:lvl8pPr>
    <a:lvl9pPr indent="1828800" defTabSz="1828800" latinLnBrk="0">
      <a:defRPr sz="2400">
        <a:latin typeface="+mn-lt"/>
        <a:ea typeface="+mn-ea"/>
        <a:cs typeface="+mn-cs"/>
        <a:sym typeface="Open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3006" y="2220278"/>
            <a:ext cx="4918390" cy="1429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09" y="5590904"/>
            <a:ext cx="4866138" cy="161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060488"/>
            <a:ext cx="24384000" cy="465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66565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1265" y="2254691"/>
            <a:ext cx="10481342" cy="1270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" name="Grupo"/>
          <p:cNvGrpSpPr/>
          <p:nvPr/>
        </p:nvGrpSpPr>
        <p:grpSpPr>
          <a:xfrm>
            <a:off x="5842000" y="2254691"/>
            <a:ext cx="12700000" cy="1270001"/>
            <a:chOff x="0" y="0"/>
            <a:chExt cx="12700000" cy="1270000"/>
          </a:xfrm>
        </p:grpSpPr>
        <p:sp>
          <p:nvSpPr>
            <p:cNvPr id="24" name="Rectángulo"/>
            <p:cNvSpPr/>
            <p:nvPr/>
          </p:nvSpPr>
          <p:spPr>
            <a:xfrm>
              <a:off x="0" y="0"/>
              <a:ext cx="12700000" cy="1270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25" name="INACAP_conbajada2.jpeg" descr="INACAP_conbajada2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767" y="0"/>
              <a:ext cx="10130466" cy="127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26993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IDO"/>
          <p:cNvSpPr txBox="1">
            <a:spLocks noGrp="1"/>
          </p:cNvSpPr>
          <p:nvPr>
            <p:ph type="body" sz="quarter" idx="13"/>
          </p:nvPr>
        </p:nvSpPr>
        <p:spPr>
          <a:xfrm>
            <a:off x="1280258" y="5925936"/>
            <a:ext cx="7617172" cy="122428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buSzTx/>
              <a:buFontTx/>
              <a:buNone/>
              <a:defRPr sz="6000" spc="-300"/>
            </a:lvl1pPr>
          </a:lstStyle>
          <a:p>
            <a:r>
              <a:t>CONTENIDO</a:t>
            </a:r>
          </a:p>
        </p:txBody>
      </p:sp>
      <p:sp>
        <p:nvSpPr>
          <p:cNvPr id="40" name="Contenido uno: lorem ipsum dolor sit amet…"/>
          <p:cNvSpPr txBox="1">
            <a:spLocks noGrp="1"/>
          </p:cNvSpPr>
          <p:nvPr>
            <p:ph type="body" sz="quarter" idx="14"/>
          </p:nvPr>
        </p:nvSpPr>
        <p:spPr>
          <a:xfrm>
            <a:off x="9904451" y="4560686"/>
            <a:ext cx="11430001" cy="3954781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uno: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dos: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tres: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cuatro: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cinco: lorem ipsum dolor sit amet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63560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ítulo de la diapositiva…"/>
          <p:cNvSpPr txBox="1"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1922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SzTx/>
              <a:buFontTx/>
              <a:buNone/>
              <a:defRPr sz="6000" spc="-300"/>
            </a:pPr>
            <a:r>
              <a:t>Título de la diapositiva</a:t>
            </a:r>
          </a:p>
          <a:p>
            <a:pPr marL="0" indent="0">
              <a:buSzTx/>
              <a:buFontTx/>
              <a:buNone/>
              <a:defRPr sz="4000" spc="-200"/>
            </a:pPr>
            <a:r>
              <a:t>Subtítulo de la diapositiva</a:t>
            </a:r>
          </a:p>
        </p:txBody>
      </p:sp>
      <p:grpSp>
        <p:nvGrpSpPr>
          <p:cNvPr id="73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71" name="Imagen 4" descr="Imagen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76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74" name="Imagen 4" descr="Imagen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0" name="INACAP_conbajada2.jpeg" descr="INACAP_conbajada2.jpeg">
            <a:extLst>
              <a:ext uri="{FF2B5EF4-FFF2-40B4-BE49-F238E27FC236}">
                <a16:creationId xmlns:a16="http://schemas.microsoft.com/office/drawing/2014/main" id="{243BB218-5DAB-3D4A-B21E-06A559B876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35999" y="12439441"/>
            <a:ext cx="2152355" cy="57150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13861774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5811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5" r:id="rId3"/>
    <p:sldLayoutId id="2147483662" r:id="rId4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ÍTULO DE LA PRESENTACIÓN"/>
          <p:cNvSpPr txBox="1">
            <a:spLocks noGrp="1"/>
          </p:cNvSpPr>
          <p:nvPr>
            <p:ph type="body" idx="13"/>
          </p:nvPr>
        </p:nvSpPr>
        <p:spPr>
          <a:xfrm>
            <a:off x="3007324" y="4133482"/>
            <a:ext cx="17780000" cy="129266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7200" b="1" dirty="0">
                <a:solidFill>
                  <a:srgbClr val="002060"/>
                </a:solidFill>
              </a:rPr>
              <a:t>Exposición Desarrollo Proyecto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186152" y="8241398"/>
            <a:ext cx="117983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Open Sans Light"/>
              </a:rPr>
              <a:t>Gabriel Aparicio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4000" b="1" dirty="0">
                <a:solidFill>
                  <a:srgbClr val="0070C0"/>
                </a:solidFill>
              </a:rPr>
              <a:t>Jeaninne Aparicio</a:t>
            </a:r>
            <a:endParaRPr kumimoji="0" lang="es-CL" sz="4000" b="1" i="0" u="none" strike="noStrike" kern="0" cap="none" spc="-15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sym typeface="Open Sans Light"/>
            </a:endParaRP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Open Sans Light"/>
              </a:rPr>
              <a:t>Fecha: 05/12/2025</a:t>
            </a:r>
          </a:p>
        </p:txBody>
      </p:sp>
      <p:sp>
        <p:nvSpPr>
          <p:cNvPr id="2" name="TÍTULO DE LA PRESENTACIÓN">
            <a:extLst>
              <a:ext uri="{FF2B5EF4-FFF2-40B4-BE49-F238E27FC236}">
                <a16:creationId xmlns:a16="http://schemas.microsoft.com/office/drawing/2014/main" id="{83C38FF6-4F02-1B45-CFB6-3844DFED8E15}"/>
              </a:ext>
            </a:extLst>
          </p:cNvPr>
          <p:cNvSpPr txBox="1">
            <a:spLocks/>
          </p:cNvSpPr>
          <p:nvPr/>
        </p:nvSpPr>
        <p:spPr>
          <a:xfrm>
            <a:off x="3007324" y="5271997"/>
            <a:ext cx="17780000" cy="2954653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b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algn="ctr" hangingPunct="1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MX" sz="6000" b="1" spc="-450" dirty="0">
                <a:solidFill>
                  <a:srgbClr val="0070C0"/>
                </a:solidFill>
                <a:latin typeface="+mn-lt"/>
                <a:ea typeface="+mn-ea"/>
                <a:cs typeface="+mn-cs"/>
                <a:sym typeface="Open Sans"/>
              </a:rPr>
              <a:t>Sistema Integral de Gestión de Servicios, Taller y Eficiencia Energética con Control de Herramientas y Flujo de Trabajo Automatizado</a:t>
            </a:r>
            <a:endParaRPr lang="es-CL" sz="6000" b="1" spc="-450" dirty="0">
              <a:solidFill>
                <a:srgbClr val="0070C0"/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E6727-5FAD-6846-C102-FFC0D6D38C8B}"/>
              </a:ext>
            </a:extLst>
          </p:cNvPr>
          <p:cNvSpPr/>
          <p:nvPr/>
        </p:nvSpPr>
        <p:spPr>
          <a:xfrm>
            <a:off x="17007840" y="11076038"/>
            <a:ext cx="68427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sym typeface="Open Sans Light"/>
              </a:rPr>
              <a:t>Daniel Aravena Jorquera</a:t>
            </a:r>
          </a:p>
        </p:txBody>
      </p:sp>
    </p:spTree>
    <p:extLst>
      <p:ext uri="{BB962C8B-B14F-4D97-AF65-F5344CB8AC3E}">
        <p14:creationId xmlns:p14="http://schemas.microsoft.com/office/powerpoint/2010/main" val="354201133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5499" y="845745"/>
            <a:ext cx="16981241" cy="923328"/>
          </a:xfrm>
        </p:spPr>
        <p:txBody>
          <a:bodyPr/>
          <a:lstStyle/>
          <a:p>
            <a:pPr marL="0" indent="0">
              <a:buNone/>
            </a:pPr>
            <a:r>
              <a:rPr lang="es-CL" sz="4800" b="1" dirty="0"/>
              <a:t>Índice de contenidos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2962A6-61E8-DA6E-ABEF-4116C2E35E7F}"/>
              </a:ext>
            </a:extLst>
          </p:cNvPr>
          <p:cNvSpPr txBox="1">
            <a:spLocks/>
          </p:cNvSpPr>
          <p:nvPr/>
        </p:nvSpPr>
        <p:spPr>
          <a:xfrm>
            <a:off x="2867891" y="1300236"/>
            <a:ext cx="18185476" cy="11468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de la problemática.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Identificación del problema.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Relevancia del Problema.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Infraestructura.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Estándares Normativos.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Buenas Prácticas.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Seguridad.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Prototipo de la Solución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Conclusiones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CL" sz="4000" kern="1200" dirty="0">
              <a:solidFill>
                <a:schemeClr val="accent5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92949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05ED667-69D8-7E2E-A0E4-E7AD50B23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646329"/>
          </a:xfrm>
        </p:spPr>
        <p:txBody>
          <a:bodyPr/>
          <a:lstStyle/>
          <a:p>
            <a:r>
              <a:rPr lang="es-CL" dirty="0"/>
              <a:t>Análisis de la Problemática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5C0C21A-41F1-FBA6-9D4E-4E13594C4E93}"/>
              </a:ext>
            </a:extLst>
          </p:cNvPr>
          <p:cNvSpPr txBox="1">
            <a:spLocks/>
          </p:cNvSpPr>
          <p:nvPr/>
        </p:nvSpPr>
        <p:spPr>
          <a:xfrm>
            <a:off x="2364827" y="2412065"/>
            <a:ext cx="21630289" cy="84030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Identificación del problema</a:t>
            </a:r>
          </a:p>
          <a:p>
            <a:pPr marL="571500" lvl="6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Puingenierías no contaba con un sistema para medir consumo energético en tiempo real.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No existía un registro de vibración o uso efectivo de herramientas.</a:t>
            </a:r>
          </a:p>
          <a:p>
            <a:pPr marL="571500" lvl="6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El taller no tenía indicadores ambientales (temperatura/humedad).</a:t>
            </a:r>
          </a:p>
          <a:p>
            <a:pPr marL="571500" lvl="6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El proceso administrativo (de cotización a factura) era manual y poco trazable.</a:t>
            </a:r>
          </a:p>
          <a:p>
            <a:pPr marL="571500" lvl="6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No existía integración entre operaciones, energía y administración.</a:t>
            </a:r>
          </a:p>
          <a:p>
            <a:pPr lvl="3" indent="0"/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Relevancia del problema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El consumo eléctrico no monitoreado genera sobrecostos.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La falta de registros dificulta auditorías y órdenes de trabajo.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El desconocimiento del uso de herramientas produce pérdidas y riesgos de seguridad.</a:t>
            </a:r>
          </a:p>
          <a:p>
            <a:pPr marL="571500" lvl="3" indent="-571500">
              <a:buFont typeface="Arial" panose="020B0604020202020204" pitchFamily="34" charset="0"/>
              <a:buChar char="•"/>
            </a:pPr>
            <a:r>
              <a:rPr lang="es-MX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La empresa necesitaba digitalizar procesos para mejorar </a:t>
            </a:r>
            <a:r>
              <a:rPr lang="es-MX" sz="4000" kern="120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eficiencia.</a:t>
            </a:r>
          </a:p>
          <a:p>
            <a:pPr lvl="3" indent="0"/>
            <a:endParaRPr lang="es-CL" sz="4000" kern="1200" dirty="0">
              <a:solidFill>
                <a:schemeClr val="accent5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2022811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8D81EBF-071C-2344-A7A8-009943A222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646329"/>
          </a:xfrm>
        </p:spPr>
        <p:txBody>
          <a:bodyPr/>
          <a:lstStyle/>
          <a:p>
            <a:r>
              <a:rPr lang="es-CL" dirty="0"/>
              <a:t>Identificación del Problema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542DCEF-A991-B21E-2883-0412D2F76E68}"/>
              </a:ext>
            </a:extLst>
          </p:cNvPr>
          <p:cNvSpPr txBox="1">
            <a:spLocks/>
          </p:cNvSpPr>
          <p:nvPr/>
        </p:nvSpPr>
        <p:spPr>
          <a:xfrm>
            <a:off x="2867891" y="3195246"/>
            <a:ext cx="18185476" cy="9573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de la problemática.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Identificación del problema.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Relevancia del Problema.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Infraestructura.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Estándares Normativos.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Buenas Prácticas.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Seguridad.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Prototipo de la Solución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Conclusiones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CL" sz="4000" kern="1200" dirty="0">
              <a:solidFill>
                <a:schemeClr val="accent5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301235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4DE6881-DAAD-6460-DA38-1B656FF7A5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F650849-2E4A-8C10-7039-DEC4D6D96DB1}"/>
              </a:ext>
            </a:extLst>
          </p:cNvPr>
          <p:cNvSpPr txBox="1">
            <a:spLocks/>
          </p:cNvSpPr>
          <p:nvPr/>
        </p:nvSpPr>
        <p:spPr>
          <a:xfrm>
            <a:off x="2867891" y="3195246"/>
            <a:ext cx="18185476" cy="9573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0000"/>
                </a:solidFill>
                <a:latin typeface="Myriad Pro"/>
                <a:ea typeface="+mj-ea"/>
                <a:cs typeface="Myriad Pro"/>
              </a:defRPr>
            </a:lvl1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de la problemática.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Identificación del problema.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Relevancia del Problema.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el Proyecto.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 general.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Objetivos Específicos.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Análisis Técnico.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Metodología de Desarrollo.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Arquitectura.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Diseño de Infraestructura.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Análisis de sustentabilidad.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Estándares Normativos.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Buenas Prácticas.</a:t>
            </a:r>
          </a:p>
          <a:p>
            <a:pPr marL="901700" lvl="1" indent="-350838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Seguridad.</a:t>
            </a:r>
          </a:p>
          <a:p>
            <a:pPr marL="539750" indent="-539750">
              <a:buFont typeface="Arial" panose="020B0604020202020204" pitchFamily="34" charset="0"/>
              <a:buChar char="•"/>
            </a:pPr>
            <a:r>
              <a:rPr lang="es-CL" sz="400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Prototipo de la Solución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CL" sz="4000" kern="1200" dirty="0">
                <a:solidFill>
                  <a:schemeClr val="accent5">
                    <a:lumMod val="50000"/>
                  </a:schemeClr>
                </a:solidFill>
                <a:latin typeface="+mn-lt"/>
                <a:ea typeface="+mj-ea"/>
              </a:rPr>
              <a:t>Conclusiones</a:t>
            </a:r>
          </a:p>
          <a:p>
            <a:pPr marL="514350" lvl="1" indent="-514350" defTabSz="457200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s-CL" sz="4000" kern="1200" dirty="0">
              <a:solidFill>
                <a:schemeClr val="accent5">
                  <a:lumMod val="50000"/>
                </a:schemeClr>
              </a:solidFill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626410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AA2843-80BE-DFF8-5FDE-41D7732789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738662"/>
          </a:xfrm>
        </p:spPr>
        <p:txBody>
          <a:bodyPr/>
          <a:lstStyle/>
          <a:p>
            <a:pPr marL="0" indent="0">
              <a:buNone/>
            </a:pPr>
            <a:r>
              <a:rPr lang="es-CL" sz="3600" dirty="0"/>
              <a:t>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386C088-094E-1A79-8CED-0BA6F62AA484}"/>
              </a:ext>
            </a:extLst>
          </p:cNvPr>
          <p:cNvSpPr txBox="1"/>
          <p:nvPr/>
        </p:nvSpPr>
        <p:spPr>
          <a:xfrm>
            <a:off x="1278379" y="4624753"/>
            <a:ext cx="20100293" cy="203132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En este apartado se debe concretar el objetivo de la exposición, plantear las ideas principales, manteniendo la atención de la audiencia. </a:t>
            </a: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Este apartado puede incluir varias láminas dependiendo de la extensión del trabajo. Es importante definir </a:t>
            </a:r>
            <a:r>
              <a:rPr lang="es-CL" dirty="0">
                <a:solidFill>
                  <a:srgbClr val="FF0000"/>
                </a:solidFill>
              </a:rPr>
              <a:t>la </a:t>
            </a: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cantidad en función de la estructura del trabajo. Así como también del tiempo que el estudiante tiene para exponer sus ideas.</a:t>
            </a:r>
          </a:p>
        </p:txBody>
      </p:sp>
    </p:spTree>
    <p:extLst>
      <p:ext uri="{BB962C8B-B14F-4D97-AF65-F5344CB8AC3E}">
        <p14:creationId xmlns:p14="http://schemas.microsoft.com/office/powerpoint/2010/main" val="152262792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6FE7EEB-E388-0F7D-E4DC-F2C51EA41D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646329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DBCF44-2D1E-4D22-845B-0D91E01E7F05}"/>
              </a:ext>
            </a:extLst>
          </p:cNvPr>
          <p:cNvSpPr txBox="1"/>
          <p:nvPr/>
        </p:nvSpPr>
        <p:spPr>
          <a:xfrm>
            <a:off x="1278379" y="4624753"/>
            <a:ext cx="20100293" cy="110799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L" sz="3000" b="0" i="0" u="none" strike="noStrike" cap="none" spc="-15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El objetivo de este punto es resumir el punto central de la exposición respondiendo a la pregunta inicial o problema abordado en el trabajo.</a:t>
            </a:r>
          </a:p>
        </p:txBody>
      </p:sp>
    </p:spTree>
    <p:extLst>
      <p:ext uri="{BB962C8B-B14F-4D97-AF65-F5344CB8AC3E}">
        <p14:creationId xmlns:p14="http://schemas.microsoft.com/office/powerpoint/2010/main" val="27028516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DD80B2DF3B4A48BEFAF9D653F7AB76" ma:contentTypeVersion="13" ma:contentTypeDescription="Crear nuevo documento." ma:contentTypeScope="" ma:versionID="9509ec7f3de1e66e51146e5f96347c72">
  <xsd:schema xmlns:xsd="http://www.w3.org/2001/XMLSchema" xmlns:xs="http://www.w3.org/2001/XMLSchema" xmlns:p="http://schemas.microsoft.com/office/2006/metadata/properties" xmlns:ns2="761aade0-c56a-4bfb-a3f4-7c00d91f8fba" xmlns:ns3="a4651164-0f15-4d13-a36d-0ab7743e2aa9" targetNamespace="http://schemas.microsoft.com/office/2006/metadata/properties" ma:root="true" ma:fieldsID="ebe31a1f8491f28f3748b5847d2586fc" ns2:_="" ns3:_="">
    <xsd:import namespace="761aade0-c56a-4bfb-a3f4-7c00d91f8fba"/>
    <xsd:import namespace="a4651164-0f15-4d13-a36d-0ab7743e2a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aade0-c56a-4bfb-a3f4-7c00d91f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aa6bfef-be34-4cf6-a2a3-f19fab1f61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1164-0f15-4d13-a36d-0ab7743e2aa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33a76d4-bc2f-4f6e-81f1-bf3274ab5108}" ma:internalName="TaxCatchAll" ma:showField="CatchAllData" ma:web="a4651164-0f15-4d13-a36d-0ab7743e2a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1aade0-c56a-4bfb-a3f4-7c00d91f8fba">
      <Terms xmlns="http://schemas.microsoft.com/office/infopath/2007/PartnerControls"/>
    </lcf76f155ced4ddcb4097134ff3c332f>
    <TaxCatchAll xmlns="a4651164-0f15-4d13-a36d-0ab7743e2a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19963-AE34-4572-8B24-9AB39A1FA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1aade0-c56a-4bfb-a3f4-7c00d91f8fba"/>
    <ds:schemaRef ds:uri="a4651164-0f15-4d13-a36d-0ab7743e2a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5A379D-26A7-4767-8B24-F1E49998E49D}">
  <ds:schemaRefs>
    <ds:schemaRef ds:uri="http://purl.org/dc/terms/"/>
    <ds:schemaRef ds:uri="http://schemas.microsoft.com/office/2006/metadata/properties"/>
    <ds:schemaRef ds:uri="http://purl.org/dc/elements/1.1/"/>
    <ds:schemaRef ds:uri="761aade0-c56a-4bfb-a3f4-7c00d91f8fba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www.w3.org/XML/1998/namespace"/>
    <ds:schemaRef ds:uri="a4651164-0f15-4d13-a36d-0ab7743e2aa9"/>
  </ds:schemaRefs>
</ds:datastoreItem>
</file>

<file path=customXml/itemProps3.xml><?xml version="1.0" encoding="utf-8"?>
<ds:datastoreItem xmlns:ds="http://schemas.openxmlformats.org/officeDocument/2006/customXml" ds:itemID="{6963A65E-E95D-4135-95C3-2FE0B86CC7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9337</TotalTime>
  <Words>408</Words>
  <Application>Microsoft Office PowerPoint</Application>
  <PresentationFormat>Personalizado</PresentationFormat>
  <Paragraphs>73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Open Sans</vt:lpstr>
      <vt:lpstr>Open Sans Light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INACAP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Exposición</dc:title>
  <dc:creator>José Luis Martinez Opazo</dc:creator>
  <cp:lastModifiedBy>Jeaninne Aparicio Chau</cp:lastModifiedBy>
  <cp:revision>259</cp:revision>
  <dcterms:modified xsi:type="dcterms:W3CDTF">2025-12-04T04:25:15Z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0x0101007BDD80B2DF3B4A48BEFAF9D653F7AB76</vt:lpwstr>
  </property>
  <property fmtid="{D5CDD505-2E9C-101B-9397-08002B2CF9AE}" pid="3" name="Order">
    <vt:r8>69366400</vt:r8>
  </property>
  <property fmtid="{D5CDD505-2E9C-101B-9397-08002B2CF9AE}" pid="4" name="Título">
    <vt:lpwstr>Presentación de PowerPoint</vt:lpwstr>
  </property>
</Properties>
</file>